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6"/>
    </p:embeddedFont>
    <p:embeddedFont>
      <p:font typeface="Arimo" charset="1" panose="020B06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yourself and the project in one sentence.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584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800" cy="10287000"/>
            <a:chOff x="0" y="0"/>
            <a:chExt cx="406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392520" y="-543642"/>
            <a:ext cx="11502959" cy="3825465"/>
          </a:xfrm>
          <a:custGeom>
            <a:avLst/>
            <a:gdLst/>
            <a:ahLst/>
            <a:cxnLst/>
            <a:rect r="r" b="b" t="t" l="l"/>
            <a:pathLst>
              <a:path h="3825465" w="11502959">
                <a:moveTo>
                  <a:pt x="0" y="0"/>
                </a:moveTo>
                <a:lnTo>
                  <a:pt x="11502960" y="0"/>
                </a:lnTo>
                <a:lnTo>
                  <a:pt x="11502960" y="3825465"/>
                </a:lnTo>
                <a:lnTo>
                  <a:pt x="0" y="3825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76400" y="3558940"/>
            <a:ext cx="15854172" cy="240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2"/>
              </a:lnSpc>
            </a:pPr>
            <a:r>
              <a:rPr lang="en-US" sz="960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Car Sales</a:t>
            </a:r>
          </a:p>
          <a:p>
            <a:pPr algn="l">
              <a:lnSpc>
                <a:spcPts val="9792"/>
              </a:lnSpc>
            </a:pPr>
            <a:r>
              <a:rPr lang="en-US" sz="960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Dashboard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6400" y="2671220"/>
            <a:ext cx="15854172" cy="4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6FF3D"/>
                </a:solidFill>
                <a:latin typeface="Arimo"/>
                <a:ea typeface="Arimo"/>
                <a:cs typeface="Arimo"/>
                <a:sym typeface="Arimo"/>
              </a:rPr>
              <a:t>POWER BI | USED CAR MARKET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00" y="6198451"/>
            <a:ext cx="15854172" cy="61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Pricing, revenue and market value across 548K sales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6400" y="7057596"/>
            <a:ext cx="15854172" cy="54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Mohamed Riduvan Azber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5B6B00"/>
                </a:solidFill>
                <a:latin typeface="Arimo Bold"/>
                <a:ea typeface="Arimo Bold"/>
                <a:cs typeface="Arimo Bold"/>
                <a:sym typeface="Arimo Bold"/>
              </a:rPr>
              <a:t>01 | THE QUESTIONS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156441"/>
            <a:ext cx="16325088" cy="74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0D0F14"/>
                </a:solidFill>
                <a:latin typeface="Arimo Bold"/>
                <a:ea typeface="Arimo Bold"/>
                <a:cs typeface="Arimo Bold"/>
                <a:sym typeface="Arimo Bold"/>
              </a:rPr>
              <a:t>Three questions this dashboard answers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392738"/>
            <a:ext cx="5079968" cy="2689727"/>
            <a:chOff x="0" y="0"/>
            <a:chExt cx="6773291" cy="35863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3586353"/>
            </a:xfrm>
            <a:custGeom>
              <a:avLst/>
              <a:gdLst/>
              <a:ahLst/>
              <a:cxnLst/>
              <a:rect r="r" b="b" t="t" l="l"/>
              <a:pathLst>
                <a:path h="3586353" w="677329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491" y="0"/>
                  </a:lnTo>
                  <a:cubicBezTo>
                    <a:pt x="6636766" y="0"/>
                    <a:pt x="6773291" y="136525"/>
                    <a:pt x="6773291" y="304800"/>
                  </a:cubicBezTo>
                  <a:lnTo>
                    <a:pt x="6773291" y="3281553"/>
                  </a:lnTo>
                  <a:cubicBezTo>
                    <a:pt x="6773291" y="3449828"/>
                    <a:pt x="6636766" y="3586353"/>
                    <a:pt x="6468491" y="3586353"/>
                  </a:cubicBezTo>
                  <a:lnTo>
                    <a:pt x="304800" y="3586353"/>
                  </a:lnTo>
                  <a:cubicBezTo>
                    <a:pt x="136525" y="3586353"/>
                    <a:pt x="0" y="3449828"/>
                    <a:pt x="0" y="3281553"/>
                  </a:cubicBezTo>
                  <a:close/>
                </a:path>
              </a:pathLst>
            </a:custGeom>
            <a:solidFill>
              <a:srgbClr val="5584C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76400" y="3830888"/>
            <a:ext cx="4290527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Who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00" y="4714770"/>
            <a:ext cx="4290527" cy="94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Which brands earn the most revenue?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03968" y="3392738"/>
            <a:ext cx="5080016" cy="2689727"/>
            <a:chOff x="0" y="0"/>
            <a:chExt cx="6773354" cy="35863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73418" cy="3586353"/>
            </a:xfrm>
            <a:custGeom>
              <a:avLst/>
              <a:gdLst/>
              <a:ahLst/>
              <a:cxnLst/>
              <a:rect r="r" b="b" t="t" l="l"/>
              <a:pathLst>
                <a:path h="3586353" w="6773418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618" y="0"/>
                  </a:lnTo>
                  <a:cubicBezTo>
                    <a:pt x="6636893" y="0"/>
                    <a:pt x="6773418" y="136525"/>
                    <a:pt x="6773418" y="304800"/>
                  </a:cubicBezTo>
                  <a:lnTo>
                    <a:pt x="6773418" y="3281553"/>
                  </a:lnTo>
                  <a:cubicBezTo>
                    <a:pt x="6773418" y="3449828"/>
                    <a:pt x="6636893" y="3586353"/>
                    <a:pt x="6468618" y="3586353"/>
                  </a:cubicBezTo>
                  <a:lnTo>
                    <a:pt x="304800" y="3586353"/>
                  </a:lnTo>
                  <a:cubicBezTo>
                    <a:pt x="136525" y="3586353"/>
                    <a:pt x="0" y="3449828"/>
                    <a:pt x="0" y="3281553"/>
                  </a:cubicBezTo>
                  <a:close/>
                </a:path>
              </a:pathLst>
            </a:custGeom>
            <a:solidFill>
              <a:srgbClr val="5584C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061168" y="3830888"/>
            <a:ext cx="4290584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How much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61168" y="4714770"/>
            <a:ext cx="4290584" cy="94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How do selling prices compare to market value?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88784" y="3392738"/>
            <a:ext cx="5080016" cy="2689727"/>
            <a:chOff x="0" y="0"/>
            <a:chExt cx="6773354" cy="35863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3418" cy="3586353"/>
            </a:xfrm>
            <a:custGeom>
              <a:avLst/>
              <a:gdLst/>
              <a:ahLst/>
              <a:cxnLst/>
              <a:rect r="r" b="b" t="t" l="l"/>
              <a:pathLst>
                <a:path h="3586353" w="6773418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618" y="0"/>
                  </a:lnTo>
                  <a:cubicBezTo>
                    <a:pt x="6636893" y="0"/>
                    <a:pt x="6773418" y="136525"/>
                    <a:pt x="6773418" y="304800"/>
                  </a:cubicBezTo>
                  <a:lnTo>
                    <a:pt x="6773418" y="3281553"/>
                  </a:lnTo>
                  <a:cubicBezTo>
                    <a:pt x="6773418" y="3449828"/>
                    <a:pt x="6636893" y="3586353"/>
                    <a:pt x="6468618" y="3586353"/>
                  </a:cubicBezTo>
                  <a:lnTo>
                    <a:pt x="304800" y="3586353"/>
                  </a:lnTo>
                  <a:cubicBezTo>
                    <a:pt x="136525" y="3586353"/>
                    <a:pt x="0" y="3449828"/>
                    <a:pt x="0" y="3281553"/>
                  </a:cubicBezTo>
                  <a:close/>
                </a:path>
              </a:pathLst>
            </a:custGeom>
            <a:solidFill>
              <a:srgbClr val="5584C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45984" y="3830888"/>
            <a:ext cx="4290584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When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45984" y="4714770"/>
            <a:ext cx="4290584" cy="94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Which months were strongest for sales?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0" y="9300248"/>
            <a:ext cx="3257617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F78"/>
                </a:solidFill>
                <a:latin typeface="Arimo"/>
                <a:ea typeface="Arimo"/>
                <a:cs typeface="Arimo"/>
                <a:sym typeface="Arimo"/>
              </a:rPr>
              <a:t>Mohamed Riduvan Azber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87600" y="9300248"/>
            <a:ext cx="1981200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6B6F78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584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02 | THE BUILD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156441"/>
            <a:ext cx="16325088" cy="74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From raw data to dashboard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392738"/>
            <a:ext cx="3762375" cy="3390795"/>
            <a:chOff x="0" y="0"/>
            <a:chExt cx="5016500" cy="45210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16500" cy="4521073"/>
            </a:xfrm>
            <a:custGeom>
              <a:avLst/>
              <a:gdLst/>
              <a:ahLst/>
              <a:cxnLst/>
              <a:rect r="r" b="b" t="t" l="l"/>
              <a:pathLst>
                <a:path h="4521073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80102" y="0"/>
                    <a:pt x="5016500" y="136525"/>
                    <a:pt x="5016500" y="304800"/>
                  </a:cubicBezTo>
                  <a:lnTo>
                    <a:pt x="5016500" y="4216273"/>
                  </a:lnTo>
                  <a:cubicBezTo>
                    <a:pt x="5016500" y="4384675"/>
                    <a:pt x="4879975" y="4521073"/>
                    <a:pt x="4711700" y="4521073"/>
                  </a:cubicBezTo>
                  <a:lnTo>
                    <a:pt x="304800" y="4521073"/>
                  </a:lnTo>
                  <a:cubicBezTo>
                    <a:pt x="136398" y="4521073"/>
                    <a:pt x="0" y="4384548"/>
                    <a:pt x="0" y="4216273"/>
                  </a:cubicBezTo>
                  <a:close/>
                </a:path>
              </a:pathLst>
            </a:custGeom>
            <a:solidFill>
              <a:srgbClr val="27549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3410002"/>
            <a:ext cx="3762375" cy="3390795"/>
            <a:chOff x="0" y="0"/>
            <a:chExt cx="5016500" cy="45210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65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79975" y="0"/>
                    <a:pt x="5016500" y="136525"/>
                    <a:pt x="5016500" y="304800"/>
                  </a:cubicBezTo>
                  <a:cubicBezTo>
                    <a:pt x="5016500" y="192532"/>
                    <a:pt x="4925568" y="101600"/>
                    <a:pt x="48133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00200" y="3830888"/>
            <a:ext cx="3090386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00200" y="4695720"/>
            <a:ext cx="3090386" cy="49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Clean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0200" y="5234797"/>
            <a:ext cx="3090386" cy="120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Power Query: blanks, text, dates, body groups.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248275" y="3392738"/>
            <a:ext cx="3762375" cy="3390795"/>
            <a:chOff x="0" y="0"/>
            <a:chExt cx="5016500" cy="45210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16500" cy="4521073"/>
            </a:xfrm>
            <a:custGeom>
              <a:avLst/>
              <a:gdLst/>
              <a:ahLst/>
              <a:cxnLst/>
              <a:rect r="r" b="b" t="t" l="l"/>
              <a:pathLst>
                <a:path h="4521073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80102" y="0"/>
                    <a:pt x="5016500" y="136525"/>
                    <a:pt x="5016500" y="304800"/>
                  </a:cubicBezTo>
                  <a:lnTo>
                    <a:pt x="5016500" y="4216273"/>
                  </a:lnTo>
                  <a:cubicBezTo>
                    <a:pt x="5016500" y="4384675"/>
                    <a:pt x="4879975" y="4521073"/>
                    <a:pt x="4711700" y="4521073"/>
                  </a:cubicBezTo>
                  <a:lnTo>
                    <a:pt x="304800" y="4521073"/>
                  </a:lnTo>
                  <a:cubicBezTo>
                    <a:pt x="136398" y="4521073"/>
                    <a:pt x="0" y="4384548"/>
                    <a:pt x="0" y="4216273"/>
                  </a:cubicBezTo>
                  <a:close/>
                </a:path>
              </a:pathLst>
            </a:custGeom>
            <a:solidFill>
              <a:srgbClr val="27549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255181" y="3392738"/>
            <a:ext cx="3762375" cy="3390795"/>
            <a:chOff x="0" y="0"/>
            <a:chExt cx="5016500" cy="45210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165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79975" y="0"/>
                    <a:pt x="5016500" y="136525"/>
                    <a:pt x="5016500" y="304800"/>
                  </a:cubicBezTo>
                  <a:cubicBezTo>
                    <a:pt x="5016500" y="192532"/>
                    <a:pt x="4925568" y="101600"/>
                    <a:pt x="48133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629275" y="3830888"/>
            <a:ext cx="3090386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29275" y="4695720"/>
            <a:ext cx="3090386" cy="49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629275" y="5234797"/>
            <a:ext cx="3090386" cy="83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Sales table linked to a Date table.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77350" y="3392738"/>
            <a:ext cx="3762375" cy="3390795"/>
            <a:chOff x="0" y="0"/>
            <a:chExt cx="5016500" cy="45210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16500" cy="4521073"/>
            </a:xfrm>
            <a:custGeom>
              <a:avLst/>
              <a:gdLst/>
              <a:ahLst/>
              <a:cxnLst/>
              <a:rect r="r" b="b" t="t" l="l"/>
              <a:pathLst>
                <a:path h="4521073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80102" y="0"/>
                    <a:pt x="5016500" y="136525"/>
                    <a:pt x="5016500" y="304800"/>
                  </a:cubicBezTo>
                  <a:lnTo>
                    <a:pt x="5016500" y="4216273"/>
                  </a:lnTo>
                  <a:cubicBezTo>
                    <a:pt x="5016500" y="4384675"/>
                    <a:pt x="4879975" y="4521073"/>
                    <a:pt x="4711700" y="4521073"/>
                  </a:cubicBezTo>
                  <a:lnTo>
                    <a:pt x="304800" y="4521073"/>
                  </a:lnTo>
                  <a:cubicBezTo>
                    <a:pt x="136398" y="4521073"/>
                    <a:pt x="0" y="4384548"/>
                    <a:pt x="0" y="4216273"/>
                  </a:cubicBezTo>
                  <a:close/>
                </a:path>
              </a:pathLst>
            </a:custGeom>
            <a:solidFill>
              <a:srgbClr val="27549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93781" y="3392738"/>
            <a:ext cx="3762375" cy="3390795"/>
            <a:chOff x="0" y="0"/>
            <a:chExt cx="5016500" cy="45210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165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79975" y="0"/>
                    <a:pt x="5016500" y="136525"/>
                    <a:pt x="5016500" y="304800"/>
                  </a:cubicBezTo>
                  <a:cubicBezTo>
                    <a:pt x="5016500" y="192532"/>
                    <a:pt x="4925568" y="101600"/>
                    <a:pt x="48133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658350" y="3830888"/>
            <a:ext cx="3090386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8350" y="4695720"/>
            <a:ext cx="3090386" cy="49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Measure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58350" y="5234797"/>
            <a:ext cx="3090386" cy="1205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DAX: revenue, units, price gap, % above market.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306425" y="3392738"/>
            <a:ext cx="3762375" cy="3390795"/>
            <a:chOff x="0" y="0"/>
            <a:chExt cx="5016500" cy="45210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16500" cy="4521073"/>
            </a:xfrm>
            <a:custGeom>
              <a:avLst/>
              <a:gdLst/>
              <a:ahLst/>
              <a:cxnLst/>
              <a:rect r="r" b="b" t="t" l="l"/>
              <a:pathLst>
                <a:path h="4521073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80102" y="0"/>
                    <a:pt x="5016500" y="136525"/>
                    <a:pt x="5016500" y="304800"/>
                  </a:cubicBezTo>
                  <a:lnTo>
                    <a:pt x="5016500" y="4216273"/>
                  </a:lnTo>
                  <a:cubicBezTo>
                    <a:pt x="5016500" y="4384675"/>
                    <a:pt x="4879975" y="4521073"/>
                    <a:pt x="4711700" y="4521073"/>
                  </a:cubicBezTo>
                  <a:lnTo>
                    <a:pt x="304800" y="4521073"/>
                  </a:lnTo>
                  <a:cubicBezTo>
                    <a:pt x="136398" y="4521073"/>
                    <a:pt x="0" y="4384548"/>
                    <a:pt x="0" y="4216273"/>
                  </a:cubicBezTo>
                  <a:close/>
                </a:path>
              </a:pathLst>
            </a:custGeom>
            <a:solidFill>
              <a:srgbClr val="27549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306425" y="3392738"/>
            <a:ext cx="3762375" cy="3390795"/>
            <a:chOff x="0" y="0"/>
            <a:chExt cx="5016500" cy="45210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016500" cy="304800"/>
            </a:xfrm>
            <a:custGeom>
              <a:avLst/>
              <a:gdLst/>
              <a:ahLst/>
              <a:cxnLst/>
              <a:rect r="r" b="b" t="t" l="l"/>
              <a:pathLst>
                <a:path h="304800" w="50165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711700" y="0"/>
                  </a:lnTo>
                  <a:cubicBezTo>
                    <a:pt x="4879975" y="0"/>
                    <a:pt x="5016500" y="136525"/>
                    <a:pt x="5016500" y="304800"/>
                  </a:cubicBezTo>
                  <a:cubicBezTo>
                    <a:pt x="5016500" y="192532"/>
                    <a:pt x="4925568" y="101600"/>
                    <a:pt x="4813300" y="101600"/>
                  </a:cubicBezTo>
                  <a:lnTo>
                    <a:pt x="304800" y="101600"/>
                  </a:lnTo>
                  <a:cubicBezTo>
                    <a:pt x="192532" y="101600"/>
                    <a:pt x="101600" y="192532"/>
                    <a:pt x="101600" y="304800"/>
                  </a:cubicBez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687425" y="3830888"/>
            <a:ext cx="3090386" cy="788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87425" y="4695720"/>
            <a:ext cx="3090386" cy="491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Visualize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87425" y="5234797"/>
            <a:ext cx="3090386" cy="83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KPIs, trends, rankings and slicers.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9200" y="9300248"/>
            <a:ext cx="3257617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C8290"/>
                </a:solidFill>
                <a:latin typeface="Arimo"/>
                <a:ea typeface="Arimo"/>
                <a:cs typeface="Arimo"/>
                <a:sym typeface="Arimo"/>
              </a:rPr>
              <a:t>Mohamed Riduvan Azber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87600" y="9300248"/>
            <a:ext cx="1981200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7C8290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5B6B00"/>
                </a:solidFill>
                <a:latin typeface="Arimo Bold"/>
                <a:ea typeface="Arimo Bold"/>
                <a:cs typeface="Arimo Bold"/>
                <a:sym typeface="Arimo Bold"/>
              </a:rPr>
              <a:t>03 | THE NUMBERS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023091"/>
            <a:ext cx="5105400" cy="2221220"/>
            <a:chOff x="0" y="0"/>
            <a:chExt cx="6807200" cy="29616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07200" cy="2961640"/>
            </a:xfrm>
            <a:custGeom>
              <a:avLst/>
              <a:gdLst/>
              <a:ahLst/>
              <a:cxnLst/>
              <a:rect r="r" b="b" t="t" l="l"/>
              <a:pathLst>
                <a:path h="2961640" w="6807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02400" y="0"/>
                  </a:lnTo>
                  <a:cubicBezTo>
                    <a:pt x="6670802" y="0"/>
                    <a:pt x="6807200" y="136525"/>
                    <a:pt x="6807200" y="304800"/>
                  </a:cubicBezTo>
                  <a:lnTo>
                    <a:pt x="6807200" y="2656840"/>
                  </a:lnTo>
                  <a:cubicBezTo>
                    <a:pt x="6807200" y="2825242"/>
                    <a:pt x="6670675" y="2961640"/>
                    <a:pt x="6502400" y="2961640"/>
                  </a:cubicBezTo>
                  <a:lnTo>
                    <a:pt x="304800" y="2961640"/>
                  </a:lnTo>
                  <a:cubicBezTo>
                    <a:pt x="136398" y="2961640"/>
                    <a:pt x="0" y="2825115"/>
                    <a:pt x="0" y="2656840"/>
                  </a:cubicBezTo>
                  <a:close/>
                </a:path>
              </a:pathLst>
            </a:custGeom>
            <a:solidFill>
              <a:srgbClr val="20449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638300" y="2413616"/>
            <a:ext cx="439521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$7.51bn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38300" y="3404216"/>
            <a:ext cx="4395216" cy="4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Total revenue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91300" y="2023091"/>
            <a:ext cx="5105400" cy="2221220"/>
            <a:chOff x="0" y="0"/>
            <a:chExt cx="6807200" cy="2961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07200" cy="2961640"/>
            </a:xfrm>
            <a:custGeom>
              <a:avLst/>
              <a:gdLst/>
              <a:ahLst/>
              <a:cxnLst/>
              <a:rect r="r" b="b" t="t" l="l"/>
              <a:pathLst>
                <a:path h="2961640" w="6807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02400" y="0"/>
                  </a:lnTo>
                  <a:cubicBezTo>
                    <a:pt x="6670802" y="0"/>
                    <a:pt x="6807200" y="136525"/>
                    <a:pt x="6807200" y="304800"/>
                  </a:cubicBezTo>
                  <a:lnTo>
                    <a:pt x="6807200" y="2656840"/>
                  </a:lnTo>
                  <a:cubicBezTo>
                    <a:pt x="6807200" y="2825242"/>
                    <a:pt x="6670675" y="2961640"/>
                    <a:pt x="6502400" y="2961640"/>
                  </a:cubicBezTo>
                  <a:lnTo>
                    <a:pt x="304800" y="2961640"/>
                  </a:lnTo>
                  <a:cubicBezTo>
                    <a:pt x="136398" y="2961640"/>
                    <a:pt x="0" y="2825115"/>
                    <a:pt x="0" y="2656840"/>
                  </a:cubicBezTo>
                  <a:close/>
                </a:path>
              </a:pathLst>
            </a:custGeom>
            <a:solidFill>
              <a:srgbClr val="20449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010400" y="2413616"/>
            <a:ext cx="439521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548K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10400" y="3404216"/>
            <a:ext cx="4395216" cy="4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Units sold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963400" y="2023091"/>
            <a:ext cx="5105400" cy="2221220"/>
            <a:chOff x="0" y="0"/>
            <a:chExt cx="6807200" cy="2961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07200" cy="2961640"/>
            </a:xfrm>
            <a:custGeom>
              <a:avLst/>
              <a:gdLst/>
              <a:ahLst/>
              <a:cxnLst/>
              <a:rect r="r" b="b" t="t" l="l"/>
              <a:pathLst>
                <a:path h="2961640" w="6807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02400" y="0"/>
                  </a:lnTo>
                  <a:cubicBezTo>
                    <a:pt x="6670802" y="0"/>
                    <a:pt x="6807200" y="136525"/>
                    <a:pt x="6807200" y="304800"/>
                  </a:cubicBezTo>
                  <a:lnTo>
                    <a:pt x="6807200" y="2656840"/>
                  </a:lnTo>
                  <a:cubicBezTo>
                    <a:pt x="6807200" y="2825242"/>
                    <a:pt x="6670675" y="2961640"/>
                    <a:pt x="6502400" y="2961640"/>
                  </a:cubicBezTo>
                  <a:lnTo>
                    <a:pt x="304800" y="2961640"/>
                  </a:lnTo>
                  <a:cubicBezTo>
                    <a:pt x="136398" y="2961640"/>
                    <a:pt x="0" y="2825115"/>
                    <a:pt x="0" y="2656840"/>
                  </a:cubicBezTo>
                  <a:close/>
                </a:path>
              </a:pathLst>
            </a:custGeom>
            <a:solidFill>
              <a:srgbClr val="20449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82500" y="2413616"/>
            <a:ext cx="439521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$13.69K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500" y="3404216"/>
            <a:ext cx="4395216" cy="45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Average price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4701511"/>
            <a:ext cx="1632508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4"/>
              </a:lnSpc>
            </a:pPr>
            <a:r>
              <a:rPr lang="en-US" sz="4500" b="true">
                <a:solidFill>
                  <a:srgbClr val="0D0F14"/>
                </a:solidFill>
                <a:latin typeface="Arimo Bold"/>
                <a:ea typeface="Arimo Bold"/>
                <a:cs typeface="Arimo Bold"/>
                <a:sym typeface="Arimo Bold"/>
              </a:rPr>
              <a:t>47% of cars sold above market value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19200" y="5549236"/>
            <a:ext cx="15849600" cy="304800"/>
            <a:chOff x="0" y="0"/>
            <a:chExt cx="21132800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3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211328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90932"/>
                    <a:pt x="21132800" y="203200"/>
                  </a:cubicBezTo>
                  <a:cubicBezTo>
                    <a:pt x="21132800" y="315468"/>
                    <a:pt x="21041868" y="406400"/>
                    <a:pt x="20929600" y="406400"/>
                  </a:cubicBezTo>
                  <a:lnTo>
                    <a:pt x="203200" y="406400"/>
                  </a:lnTo>
                  <a:cubicBezTo>
                    <a:pt x="90932" y="406400"/>
                    <a:pt x="0" y="315468"/>
                    <a:pt x="0" y="203200"/>
                  </a:cubicBezTo>
                  <a:close/>
                </a:path>
              </a:pathLst>
            </a:custGeom>
            <a:solidFill>
              <a:srgbClr val="D9D4C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19200" y="5549236"/>
            <a:ext cx="7448550" cy="304800"/>
            <a:chOff x="0" y="0"/>
            <a:chExt cx="99314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31400" cy="406400"/>
            </a:xfrm>
            <a:custGeom>
              <a:avLst/>
              <a:gdLst/>
              <a:ahLst/>
              <a:cxnLst/>
              <a:rect r="r" b="b" t="t" l="l"/>
              <a:pathLst>
                <a:path h="406400" w="99314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9728200" y="0"/>
                  </a:lnTo>
                  <a:cubicBezTo>
                    <a:pt x="9840468" y="0"/>
                    <a:pt x="9931400" y="90932"/>
                    <a:pt x="9931400" y="203200"/>
                  </a:cubicBezTo>
                  <a:cubicBezTo>
                    <a:pt x="9931400" y="315468"/>
                    <a:pt x="9840468" y="406400"/>
                    <a:pt x="9728200" y="406400"/>
                  </a:cubicBezTo>
                  <a:lnTo>
                    <a:pt x="203200" y="406400"/>
                  </a:lnTo>
                  <a:cubicBezTo>
                    <a:pt x="90932" y="406400"/>
                    <a:pt x="0" y="315468"/>
                    <a:pt x="0" y="203200"/>
                  </a:cubicBezTo>
                  <a:close/>
                </a:path>
              </a:pathLst>
            </a:custGeom>
            <a:solidFill>
              <a:srgbClr val="20449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19200" y="9300239"/>
            <a:ext cx="3257617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F78"/>
                </a:solidFill>
                <a:latin typeface="Arimo"/>
                <a:ea typeface="Arimo"/>
                <a:cs typeface="Arimo"/>
                <a:sym typeface="Arimo"/>
              </a:rPr>
              <a:t>Mohamed Riduvan Azber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87600" y="9300239"/>
            <a:ext cx="1981200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6B6F78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044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04 | TOP BRANDS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032616"/>
            <a:ext cx="16325088" cy="67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Ford leads revenue at $1.36bn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3026997"/>
            <a:ext cx="2171700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Ford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543300" y="3087938"/>
            <a:ext cx="10477500" cy="419100"/>
            <a:chOff x="0" y="0"/>
            <a:chExt cx="13970000" cy="55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70000" cy="558800"/>
            </a:xfrm>
            <a:custGeom>
              <a:avLst/>
              <a:gdLst/>
              <a:ahLst/>
              <a:cxnLst/>
              <a:rect r="r" b="b" t="t" l="l"/>
              <a:pathLst>
                <a:path h="558800" w="13970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13868400" y="0"/>
                  </a:lnTo>
                  <a:cubicBezTo>
                    <a:pt x="13924535" y="0"/>
                    <a:pt x="13970000" y="45466"/>
                    <a:pt x="13970000" y="101600"/>
                  </a:cubicBezTo>
                  <a:lnTo>
                    <a:pt x="13970000" y="457200"/>
                  </a:lnTo>
                  <a:cubicBezTo>
                    <a:pt x="13970000" y="513334"/>
                    <a:pt x="13924535" y="558800"/>
                    <a:pt x="13868400" y="558800"/>
                  </a:cubicBezTo>
                  <a:lnTo>
                    <a:pt x="101600" y="558800"/>
                  </a:lnTo>
                  <a:cubicBezTo>
                    <a:pt x="45466" y="558800"/>
                    <a:pt x="0" y="513334"/>
                    <a:pt x="0" y="457200"/>
                  </a:cubicBez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249400" y="3026997"/>
            <a:ext cx="1374200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C6FF3D"/>
                </a:solidFill>
                <a:latin typeface="Arimo"/>
                <a:ea typeface="Arimo"/>
                <a:cs typeface="Arimo"/>
                <a:sym typeface="Arimo"/>
              </a:rPr>
              <a:t>$1.36bn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3663229"/>
            <a:ext cx="2171700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Chevrolet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543300" y="3724170"/>
            <a:ext cx="5543550" cy="419100"/>
            <a:chOff x="0" y="0"/>
            <a:chExt cx="73914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91400" cy="558800"/>
            </a:xfrm>
            <a:custGeom>
              <a:avLst/>
              <a:gdLst/>
              <a:ahLst/>
              <a:cxnLst/>
              <a:rect r="r" b="b" t="t" l="l"/>
              <a:pathLst>
                <a:path h="558800" w="73914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7289800" y="0"/>
                  </a:lnTo>
                  <a:cubicBezTo>
                    <a:pt x="7345934" y="0"/>
                    <a:pt x="7391400" y="45466"/>
                    <a:pt x="7391400" y="101600"/>
                  </a:cubicBezTo>
                  <a:lnTo>
                    <a:pt x="7391400" y="457200"/>
                  </a:lnTo>
                  <a:cubicBezTo>
                    <a:pt x="7391400" y="513334"/>
                    <a:pt x="7345934" y="558800"/>
                    <a:pt x="7289800" y="558800"/>
                  </a:cubicBezTo>
                  <a:lnTo>
                    <a:pt x="101600" y="558800"/>
                  </a:lnTo>
                  <a:cubicBezTo>
                    <a:pt x="45466" y="558800"/>
                    <a:pt x="0" y="513334"/>
                    <a:pt x="0" y="457200"/>
                  </a:cubicBezTo>
                  <a:close/>
                </a:path>
              </a:pathLst>
            </a:custGeom>
            <a:solidFill>
              <a:srgbClr val="7F9E2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315450" y="3663229"/>
            <a:ext cx="1415634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$0.72bn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4299461"/>
            <a:ext cx="2171700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Nissan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543300" y="4360393"/>
            <a:ext cx="4857750" cy="419100"/>
            <a:chOff x="0" y="0"/>
            <a:chExt cx="6477000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77000" cy="558800"/>
            </a:xfrm>
            <a:custGeom>
              <a:avLst/>
              <a:gdLst/>
              <a:ahLst/>
              <a:cxnLst/>
              <a:rect r="r" b="b" t="t" l="l"/>
              <a:pathLst>
                <a:path h="558800" w="64770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375400" y="0"/>
                  </a:lnTo>
                  <a:cubicBezTo>
                    <a:pt x="6431534" y="0"/>
                    <a:pt x="6477000" y="45466"/>
                    <a:pt x="6477000" y="101600"/>
                  </a:cubicBezTo>
                  <a:lnTo>
                    <a:pt x="6477000" y="457200"/>
                  </a:lnTo>
                  <a:cubicBezTo>
                    <a:pt x="6477000" y="513334"/>
                    <a:pt x="6431534" y="558800"/>
                    <a:pt x="6375400" y="558800"/>
                  </a:cubicBezTo>
                  <a:lnTo>
                    <a:pt x="101600" y="558800"/>
                  </a:lnTo>
                  <a:cubicBezTo>
                    <a:pt x="45466" y="558800"/>
                    <a:pt x="0" y="513334"/>
                    <a:pt x="0" y="457200"/>
                  </a:cubicBezTo>
                  <a:close/>
                </a:path>
              </a:pathLst>
            </a:custGeom>
            <a:solidFill>
              <a:srgbClr val="7F9E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629650" y="4299461"/>
            <a:ext cx="1446933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$0.63bn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9200" y="4935684"/>
            <a:ext cx="2171700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Toyota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43300" y="4996625"/>
            <a:ext cx="3771900" cy="419100"/>
            <a:chOff x="0" y="0"/>
            <a:chExt cx="5029200" cy="55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29200" cy="558800"/>
            </a:xfrm>
            <a:custGeom>
              <a:avLst/>
              <a:gdLst/>
              <a:ahLst/>
              <a:cxnLst/>
              <a:rect r="r" b="b" t="t" l="l"/>
              <a:pathLst>
                <a:path h="558800" w="5029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4927600" y="0"/>
                  </a:lnTo>
                  <a:cubicBezTo>
                    <a:pt x="4983734" y="0"/>
                    <a:pt x="5029200" y="45466"/>
                    <a:pt x="5029200" y="101600"/>
                  </a:cubicBezTo>
                  <a:lnTo>
                    <a:pt x="5029200" y="457200"/>
                  </a:lnTo>
                  <a:cubicBezTo>
                    <a:pt x="5029200" y="513334"/>
                    <a:pt x="4983734" y="558800"/>
                    <a:pt x="4927600" y="558800"/>
                  </a:cubicBezTo>
                  <a:lnTo>
                    <a:pt x="101600" y="558800"/>
                  </a:lnTo>
                  <a:cubicBezTo>
                    <a:pt x="45466" y="558800"/>
                    <a:pt x="0" y="513334"/>
                    <a:pt x="0" y="457200"/>
                  </a:cubicBezTo>
                  <a:close/>
                </a:path>
              </a:pathLst>
            </a:custGeom>
            <a:solidFill>
              <a:srgbClr val="7F9E26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543800" y="4935684"/>
            <a:ext cx="1457782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$0.49bn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9200" y="5571906"/>
            <a:ext cx="2171700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4F1EA"/>
                </a:solidFill>
                <a:latin typeface="Arimo"/>
                <a:ea typeface="Arimo"/>
                <a:cs typeface="Arimo"/>
                <a:sym typeface="Arimo"/>
              </a:rPr>
              <a:t>BMW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543300" y="5632847"/>
            <a:ext cx="3390900" cy="419100"/>
            <a:chOff x="0" y="0"/>
            <a:chExt cx="4521200" cy="55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21200" cy="558800"/>
            </a:xfrm>
            <a:custGeom>
              <a:avLst/>
              <a:gdLst/>
              <a:ahLst/>
              <a:cxnLst/>
              <a:rect r="r" b="b" t="t" l="l"/>
              <a:pathLst>
                <a:path h="558800" w="4521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4419600" y="0"/>
                  </a:lnTo>
                  <a:cubicBezTo>
                    <a:pt x="4475734" y="0"/>
                    <a:pt x="4521200" y="45466"/>
                    <a:pt x="4521200" y="101600"/>
                  </a:cubicBezTo>
                  <a:lnTo>
                    <a:pt x="4521200" y="457200"/>
                  </a:lnTo>
                  <a:cubicBezTo>
                    <a:pt x="4521200" y="513334"/>
                    <a:pt x="4475734" y="558800"/>
                    <a:pt x="4419600" y="558800"/>
                  </a:cubicBezTo>
                  <a:lnTo>
                    <a:pt x="101600" y="558800"/>
                  </a:lnTo>
                  <a:cubicBezTo>
                    <a:pt x="45466" y="558800"/>
                    <a:pt x="0" y="513334"/>
                    <a:pt x="0" y="457200"/>
                  </a:cubicBezTo>
                  <a:close/>
                </a:path>
              </a:pathLst>
            </a:custGeom>
            <a:solidFill>
              <a:srgbClr val="7F9E26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162800" y="5571906"/>
            <a:ext cx="1462526" cy="521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$0.44bn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" y="9300248"/>
            <a:ext cx="3257617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7C8290"/>
                </a:solidFill>
                <a:latin typeface="Arimo"/>
                <a:ea typeface="Arimo"/>
                <a:cs typeface="Arimo"/>
                <a:sym typeface="Arimo"/>
              </a:rPr>
              <a:t>Mohamed Riduvan Azber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087600" y="9300248"/>
            <a:ext cx="1981200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7C8290"/>
                </a:solidFill>
                <a:latin typeface="Arimo"/>
                <a:ea typeface="Arimo"/>
                <a:cs typeface="Arimo"/>
                <a:sym typeface="Arim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62050"/>
            <a:ext cx="16325088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5B6B00"/>
                </a:solidFill>
                <a:latin typeface="Arimo Bold"/>
                <a:ea typeface="Arimo Bold"/>
                <a:cs typeface="Arimo Bold"/>
                <a:sym typeface="Arimo Bold"/>
              </a:rPr>
              <a:t>05 | WHAT I FOUND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2070716"/>
            <a:ext cx="16325088" cy="71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0D0F14"/>
                </a:solidFill>
                <a:latin typeface="Arimo Bold"/>
                <a:ea typeface="Arimo Bold"/>
                <a:cs typeface="Arimo Bold"/>
                <a:sym typeface="Arimo Bold"/>
              </a:rPr>
              <a:t>Three takeaways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3200352"/>
            <a:ext cx="5079968" cy="3183407"/>
            <a:chOff x="0" y="0"/>
            <a:chExt cx="6773291" cy="42445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3291" cy="4244594"/>
            </a:xfrm>
            <a:custGeom>
              <a:avLst/>
              <a:gdLst/>
              <a:ahLst/>
              <a:cxnLst/>
              <a:rect r="r" b="b" t="t" l="l"/>
              <a:pathLst>
                <a:path h="4244594" w="677329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491" y="0"/>
                  </a:lnTo>
                  <a:cubicBezTo>
                    <a:pt x="6636766" y="0"/>
                    <a:pt x="6773291" y="136525"/>
                    <a:pt x="6773291" y="304800"/>
                  </a:cubicBezTo>
                  <a:lnTo>
                    <a:pt x="6773291" y="3939794"/>
                  </a:lnTo>
                  <a:cubicBezTo>
                    <a:pt x="6773291" y="4108069"/>
                    <a:pt x="6636766" y="4244594"/>
                    <a:pt x="6468491" y="4244594"/>
                  </a:cubicBezTo>
                  <a:lnTo>
                    <a:pt x="304800" y="4244594"/>
                  </a:lnTo>
                  <a:cubicBezTo>
                    <a:pt x="136525" y="4244594"/>
                    <a:pt x="0" y="4108069"/>
                    <a:pt x="0" y="39397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3200352"/>
            <a:ext cx="5079968" cy="3183407"/>
            <a:chOff x="0" y="0"/>
            <a:chExt cx="6773291" cy="4244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73291" cy="304800"/>
            </a:xfrm>
            <a:custGeom>
              <a:avLst/>
              <a:gdLst/>
              <a:ahLst/>
              <a:cxnLst/>
              <a:rect r="r" b="b" t="t" l="l"/>
              <a:pathLst>
                <a:path h="304800" w="677329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491" y="0"/>
                  </a:lnTo>
                  <a:cubicBezTo>
                    <a:pt x="6636766" y="0"/>
                    <a:pt x="6773291" y="136525"/>
                    <a:pt x="6773291" y="304800"/>
                  </a:cubicBezTo>
                  <a:cubicBezTo>
                    <a:pt x="6773291" y="206629"/>
                    <a:pt x="6693662" y="127000"/>
                    <a:pt x="6595491" y="127000"/>
                  </a:cubicBezTo>
                  <a:lnTo>
                    <a:pt x="304800" y="127000"/>
                  </a:lnTo>
                  <a:cubicBezTo>
                    <a:pt x="206629" y="127000"/>
                    <a:pt x="127000" y="206629"/>
                    <a:pt x="127000" y="304800"/>
                  </a:cubicBezTo>
                  <a:close/>
                </a:path>
              </a:pathLst>
            </a:custGeom>
            <a:solidFill>
              <a:srgbClr val="0D0F1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676400" y="3722484"/>
            <a:ext cx="4290527" cy="88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D0F14"/>
                </a:solidFill>
                <a:latin typeface="Arimo Bold"/>
                <a:ea typeface="Arimo Bold"/>
                <a:cs typeface="Arimo Bold"/>
                <a:sym typeface="Arimo Bold"/>
              </a:rPr>
              <a:t>47%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6400" y="4669250"/>
            <a:ext cx="4290527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A3F4A"/>
                </a:solidFill>
                <a:latin typeface="Arimo"/>
                <a:ea typeface="Arimo"/>
                <a:cs typeface="Arimo"/>
                <a:sym typeface="Arimo"/>
              </a:rPr>
              <a:t>of cars sold above market value, a sign of healthy demand.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03968" y="3200352"/>
            <a:ext cx="5080016" cy="3183407"/>
            <a:chOff x="0" y="0"/>
            <a:chExt cx="6773354" cy="4244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73418" cy="4244594"/>
            </a:xfrm>
            <a:custGeom>
              <a:avLst/>
              <a:gdLst/>
              <a:ahLst/>
              <a:cxnLst/>
              <a:rect r="r" b="b" t="t" l="l"/>
              <a:pathLst>
                <a:path h="4244594" w="6773418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618" y="0"/>
                  </a:lnTo>
                  <a:cubicBezTo>
                    <a:pt x="6636893" y="0"/>
                    <a:pt x="6773418" y="136525"/>
                    <a:pt x="6773418" y="304800"/>
                  </a:cubicBezTo>
                  <a:lnTo>
                    <a:pt x="6773418" y="3939794"/>
                  </a:lnTo>
                  <a:cubicBezTo>
                    <a:pt x="6773418" y="4108069"/>
                    <a:pt x="6636893" y="4244594"/>
                    <a:pt x="6468618" y="4244594"/>
                  </a:cubicBezTo>
                  <a:lnTo>
                    <a:pt x="304800" y="4244594"/>
                  </a:lnTo>
                  <a:cubicBezTo>
                    <a:pt x="136525" y="4244594"/>
                    <a:pt x="0" y="4108069"/>
                    <a:pt x="0" y="39397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03968" y="3200352"/>
            <a:ext cx="5080016" cy="3183407"/>
            <a:chOff x="0" y="0"/>
            <a:chExt cx="6773354" cy="4244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73418" cy="304800"/>
            </a:xfrm>
            <a:custGeom>
              <a:avLst/>
              <a:gdLst/>
              <a:ahLst/>
              <a:cxnLst/>
              <a:rect r="r" b="b" t="t" l="l"/>
              <a:pathLst>
                <a:path h="304800" w="6773418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618" y="0"/>
                  </a:lnTo>
                  <a:cubicBezTo>
                    <a:pt x="6636893" y="0"/>
                    <a:pt x="6773418" y="136525"/>
                    <a:pt x="6773418" y="304800"/>
                  </a:cubicBezTo>
                  <a:cubicBezTo>
                    <a:pt x="6773418" y="206629"/>
                    <a:pt x="6693789" y="127000"/>
                    <a:pt x="6595618" y="127000"/>
                  </a:cubicBezTo>
                  <a:lnTo>
                    <a:pt x="304800" y="127000"/>
                  </a:lnTo>
                  <a:cubicBezTo>
                    <a:pt x="206629" y="127000"/>
                    <a:pt x="127000" y="206629"/>
                    <a:pt x="127000" y="304800"/>
                  </a:cubicBezTo>
                  <a:close/>
                </a:path>
              </a:pathLst>
            </a:custGeom>
            <a:solidFill>
              <a:srgbClr val="0D0F1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61168" y="3722484"/>
            <a:ext cx="4290584" cy="88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D0F14"/>
                </a:solidFill>
                <a:latin typeface="Arimo Bold"/>
                <a:ea typeface="Arimo Bold"/>
                <a:cs typeface="Arimo Bold"/>
                <a:sym typeface="Arimo Bold"/>
              </a:rPr>
              <a:t>Jan-Feb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61168" y="4669250"/>
            <a:ext cx="429058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A3F4A"/>
                </a:solidFill>
                <a:latin typeface="Arimo"/>
                <a:ea typeface="Arimo"/>
                <a:cs typeface="Arimo"/>
                <a:sym typeface="Arimo"/>
              </a:rPr>
              <a:t>2015 was the peak, with a dip in April and a second rise in June.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988784" y="3200352"/>
            <a:ext cx="5080016" cy="3183407"/>
            <a:chOff x="0" y="0"/>
            <a:chExt cx="6773354" cy="42445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73418" cy="4244594"/>
            </a:xfrm>
            <a:custGeom>
              <a:avLst/>
              <a:gdLst/>
              <a:ahLst/>
              <a:cxnLst/>
              <a:rect r="r" b="b" t="t" l="l"/>
              <a:pathLst>
                <a:path h="4244594" w="6773418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618" y="0"/>
                  </a:lnTo>
                  <a:cubicBezTo>
                    <a:pt x="6636893" y="0"/>
                    <a:pt x="6773418" y="136525"/>
                    <a:pt x="6773418" y="304800"/>
                  </a:cubicBezTo>
                  <a:lnTo>
                    <a:pt x="6773418" y="3939794"/>
                  </a:lnTo>
                  <a:cubicBezTo>
                    <a:pt x="6773418" y="4108069"/>
                    <a:pt x="6636893" y="4244594"/>
                    <a:pt x="6468618" y="4244594"/>
                  </a:cubicBezTo>
                  <a:lnTo>
                    <a:pt x="304800" y="4244594"/>
                  </a:lnTo>
                  <a:cubicBezTo>
                    <a:pt x="136525" y="4244594"/>
                    <a:pt x="0" y="4108069"/>
                    <a:pt x="0" y="393979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988784" y="3200352"/>
            <a:ext cx="5080016" cy="3183407"/>
            <a:chOff x="0" y="0"/>
            <a:chExt cx="6773354" cy="42445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73418" cy="304800"/>
            </a:xfrm>
            <a:custGeom>
              <a:avLst/>
              <a:gdLst/>
              <a:ahLst/>
              <a:cxnLst/>
              <a:rect r="r" b="b" t="t" l="l"/>
              <a:pathLst>
                <a:path h="304800" w="6773418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468618" y="0"/>
                  </a:lnTo>
                  <a:cubicBezTo>
                    <a:pt x="6636893" y="0"/>
                    <a:pt x="6773418" y="136525"/>
                    <a:pt x="6773418" y="304800"/>
                  </a:cubicBezTo>
                  <a:cubicBezTo>
                    <a:pt x="6773418" y="206629"/>
                    <a:pt x="6693789" y="127000"/>
                    <a:pt x="6595618" y="127000"/>
                  </a:cubicBezTo>
                  <a:lnTo>
                    <a:pt x="304800" y="127000"/>
                  </a:lnTo>
                  <a:cubicBezTo>
                    <a:pt x="206629" y="127000"/>
                    <a:pt x="127000" y="206629"/>
                    <a:pt x="127000" y="304800"/>
                  </a:cubicBezTo>
                  <a:close/>
                </a:path>
              </a:pathLst>
            </a:custGeom>
            <a:solidFill>
              <a:srgbClr val="0D0F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445984" y="3722484"/>
            <a:ext cx="4290584" cy="889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D0F14"/>
                </a:solidFill>
                <a:latin typeface="Arimo Bold"/>
                <a:ea typeface="Arimo Bold"/>
                <a:cs typeface="Arimo Bold"/>
                <a:sym typeface="Arimo Bold"/>
              </a:rPr>
              <a:t>Ford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45984" y="4669250"/>
            <a:ext cx="4290584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3A3F4A"/>
                </a:solidFill>
                <a:latin typeface="Arimo"/>
                <a:ea typeface="Arimo"/>
                <a:cs typeface="Arimo"/>
                <a:sym typeface="Arimo"/>
              </a:rPr>
              <a:t>leads revenue, ahead of Chevrolet and Nissan.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9200" y="9300248"/>
            <a:ext cx="3257617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B6F78"/>
                </a:solidFill>
                <a:latin typeface="Arimo"/>
                <a:ea typeface="Arimo"/>
                <a:cs typeface="Arimo"/>
                <a:sym typeface="Arimo"/>
              </a:rPr>
              <a:t>Mohamed Riduvan Azber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87600" y="9300248"/>
            <a:ext cx="1981200" cy="41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6B6F78"/>
                </a:solidFill>
                <a:latin typeface="Arimo"/>
                <a:ea typeface="Arimo"/>
                <a:cs typeface="Arimo"/>
                <a:sym typeface="Arim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5584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4800" cy="10287000"/>
            <a:chOff x="0" y="0"/>
            <a:chExt cx="406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6FF3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76400" y="2828011"/>
            <a:ext cx="15854172" cy="44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06 | WHAT'S NEXT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6400" y="3679517"/>
            <a:ext cx="15854172" cy="89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5"/>
              </a:lnSpc>
            </a:pPr>
            <a:r>
              <a:rPr lang="en-US" sz="6900" b="true">
                <a:solidFill>
                  <a:srgbClr val="F4F1EA"/>
                </a:solidFill>
                <a:latin typeface="Arimo Bold"/>
                <a:ea typeface="Arimo Bold"/>
                <a:cs typeface="Arimo Bold"/>
                <a:sym typeface="Arimo Bold"/>
              </a:rPr>
              <a:t>Where I take this next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0215" y="4837728"/>
            <a:ext cx="15798927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Forecast future sales</a:t>
            </a:r>
          </a:p>
          <a:p>
            <a:pPr algn="l" marL="542925" indent="-271462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A9AFBC"/>
                </a:solidFill>
                <a:latin typeface="Arimo"/>
                <a:ea typeface="Arimo"/>
                <a:cs typeface="Arimo"/>
                <a:sym typeface="Arimo"/>
              </a:rPr>
              <a:t>Add more years of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76400" y="6828453"/>
            <a:ext cx="15854172" cy="61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C6FF3D"/>
                </a:solidFill>
                <a:latin typeface="Arimo Bold"/>
                <a:ea typeface="Arimo Bold"/>
                <a:cs typeface="Arimo Bold"/>
                <a:sym typeface="Arimo Bold"/>
              </a:rPr>
              <a:t>Thank you | Mohamed Riduvan Azber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DAHYKlKB9S0</dc:identifier>
  <dcterms:modified xsi:type="dcterms:W3CDTF">2011-08-01T06:04:30Z</dcterms:modified>
  <cp:revision>1</cp:revision>
  <dc:title>Car_Sales_Presentation.pptx</dc:title>
</cp:coreProperties>
</file>